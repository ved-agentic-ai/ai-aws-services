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3" r:id="rId3"/>
    <p:sldId id="274" r:id="rId4"/>
    <p:sldId id="275" r:id="rId5"/>
    <p:sldId id="276" r:id="rId6"/>
    <p:sldId id="279" r:id="rId7"/>
    <p:sldId id="27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233C"/>
            </a:gs>
            <a:gs pos="55000">
              <a:srgbClr val="0B1120"/>
            </a:gs>
            <a:gs pos="100000">
              <a:srgbClr val="060A1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62200"/>
            <a:ext cx="990600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5000" b="1" dirty="0" err="1">
                <a:solidFill>
                  <a:srgbClr val="F59E0B"/>
                </a:solidFill>
                <a:latin typeface="Arial"/>
              </a:rPr>
              <a:t>PayComprehend</a:t>
            </a:r>
            <a:endParaRPr lang="en-US" sz="5000" b="1" dirty="0">
              <a:solidFill>
                <a:srgbClr val="F59E0B"/>
              </a:solidFill>
              <a:latin typeface="Arial"/>
            </a:endParaRPr>
          </a:p>
          <a:p>
            <a:pPr>
              <a:spcBef>
                <a:spcPts val="1000"/>
              </a:spcBef>
            </a:pPr>
            <a:r>
              <a:rPr lang="en-US" sz="2200" dirty="0">
                <a:solidFill>
                  <a:srgbClr val="CBD5E1"/>
                </a:solidFill>
                <a:latin typeface="Arial"/>
              </a:rPr>
              <a:t>Serverless AI Document Intelligence &amp; Payment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851400"/>
            <a:ext cx="43358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b="1" spc="150" dirty="0">
                <a:solidFill>
                  <a:srgbClr val="94A3B8"/>
                </a:solidFill>
                <a:latin typeface="Arial"/>
              </a:rPr>
              <a:t>POWERED BY AWS MACHINE LEARNING</a:t>
            </a:r>
          </a:p>
        </p:txBody>
      </p:sp>
      <p:sp>
        <p:nvSpPr>
          <p:cNvPr id="80" name="Decor Ring"/>
          <p:cNvSpPr/>
          <p:nvPr/>
        </p:nvSpPr>
        <p:spPr>
          <a:xfrm>
            <a:off x="8128000" y="-762000"/>
            <a:ext cx="5334000" cy="5334000"/>
          </a:xfrm>
          <a:prstGeom prst="ellipse">
            <a:avLst/>
          </a:prstGeom>
          <a:noFill/>
          <a:ln w="12700">
            <a:solidFill>
              <a:srgbClr val="38BDF8">
                <a:alpha val="22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Decor Ring 2"/>
          <p:cNvSpPr/>
          <p:nvPr/>
        </p:nvSpPr>
        <p:spPr>
          <a:xfrm>
            <a:off x="9144000" y="254000"/>
            <a:ext cx="3302000" cy="3302000"/>
          </a:xfrm>
          <a:prstGeom prst="ellipse">
            <a:avLst/>
          </a:prstGeom>
          <a:noFill/>
          <a:ln w="12700">
            <a:solidFill>
              <a:srgbClr val="F59E0B">
                <a:alpha val="2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" name="Eyebrow"/>
          <p:cNvSpPr txBox="1"/>
          <p:nvPr/>
        </p:nvSpPr>
        <p:spPr>
          <a:xfrm>
            <a:off x="914400" y="152400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b="1" spc="200" dirty="0">
                <a:solidFill>
                  <a:srgbClr val="38BDF8"/>
                </a:solidFill>
                <a:latin typeface="Arial"/>
              </a:rPr>
              <a:t>AI/ML Services BRIEFING</a:t>
            </a:r>
          </a:p>
        </p:txBody>
      </p:sp>
      <p:sp>
        <p:nvSpPr>
          <p:cNvPr id="83" name="Accent Rule"/>
          <p:cNvSpPr/>
          <p:nvPr/>
        </p:nvSpPr>
        <p:spPr>
          <a:xfrm>
            <a:off x="914400" y="2032000"/>
            <a:ext cx="12192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Pill 0"/>
          <p:cNvSpPr/>
          <p:nvPr/>
        </p:nvSpPr>
        <p:spPr>
          <a:xfrm>
            <a:off x="914400" y="5232400"/>
            <a:ext cx="2006600" cy="431800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2700">
            <a:solidFill>
              <a:srgbClr val="2B456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Arial"/>
              </a:rPr>
              <a:t>Amazon Textract</a:t>
            </a:r>
          </a:p>
        </p:txBody>
      </p:sp>
      <p:sp>
        <p:nvSpPr>
          <p:cNvPr id="101" name="Pill 1"/>
          <p:cNvSpPr/>
          <p:nvPr/>
        </p:nvSpPr>
        <p:spPr>
          <a:xfrm>
            <a:off x="3073400" y="5232400"/>
            <a:ext cx="2413000" cy="431800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2700">
            <a:solidFill>
              <a:srgbClr val="2B456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Arial"/>
              </a:rPr>
              <a:t>Amazon Comprehend</a:t>
            </a:r>
          </a:p>
        </p:txBody>
      </p:sp>
      <p:sp>
        <p:nvSpPr>
          <p:cNvPr id="102" name="Pill 2"/>
          <p:cNvSpPr/>
          <p:nvPr/>
        </p:nvSpPr>
        <p:spPr>
          <a:xfrm>
            <a:off x="5638800" y="5232400"/>
            <a:ext cx="1701800" cy="431800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2700">
            <a:solidFill>
              <a:srgbClr val="2B456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Arial"/>
              </a:rPr>
              <a:t>AWS Lambda</a:t>
            </a:r>
          </a:p>
        </p:txBody>
      </p:sp>
      <p:sp>
        <p:nvSpPr>
          <p:cNvPr id="103" name="Pill 3"/>
          <p:cNvSpPr/>
          <p:nvPr/>
        </p:nvSpPr>
        <p:spPr>
          <a:xfrm>
            <a:off x="7493000" y="5232400"/>
            <a:ext cx="1574800" cy="431800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2700">
            <a:solidFill>
              <a:srgbClr val="2B456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Arial"/>
              </a:rPr>
              <a:t>Amazon S3</a:t>
            </a:r>
          </a:p>
        </p:txBody>
      </p:sp>
      <p:sp>
        <p:nvSpPr>
          <p:cNvPr id="104" name="Pill 4"/>
          <p:cNvSpPr/>
          <p:nvPr/>
        </p:nvSpPr>
        <p:spPr>
          <a:xfrm>
            <a:off x="9220200" y="5232400"/>
            <a:ext cx="1930400" cy="431800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2700">
            <a:solidFill>
              <a:srgbClr val="2B456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dirty="0">
                <a:solidFill>
                  <a:srgbClr val="E2E8F0"/>
                </a:solidFill>
                <a:latin typeface="Arial"/>
              </a:rPr>
              <a:t>API Gateway v2</a:t>
            </a:r>
          </a:p>
        </p:txBody>
      </p:sp>
    </p:spTree>
    <p:extLst>
      <p:ext uri="{BB962C8B-B14F-4D97-AF65-F5344CB8AC3E}">
        <p14:creationId xmlns:p14="http://schemas.microsoft.com/office/powerpoint/2010/main" val="117256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C30"/>
            </a:gs>
            <a:gs pos="55000">
              <a:srgbClr val="0B1120"/>
            </a:gs>
            <a:gs pos="100000">
              <a:srgbClr val="070B1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AWS AI/ML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Executive Summary &amp; Business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190500" rtlCol="0" anchor="t"/>
          <a:lstStyle/>
          <a:p>
            <a:pPr algn="l">
              <a:defRPr sz="1500" b="1" spc="120">
                <a:solidFill>
                  <a:srgbClr val="F59E0B"/>
                </a:solidFill>
              </a:defRPr>
            </a:pPr>
            <a:r>
              <a:t>THE BUSINESS CHALLENGE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Manual Processing Bottlenecks: </a:t>
            </a:r>
            <a:r>
              <a:rPr sz="1400">
                <a:solidFill>
                  <a:srgbClr val="CBD5E1"/>
                </a:solidFill>
              </a:rPr>
              <a:t>Finance &amp; HR teams manually type invoice data, payment receipts, and employment forms into ERP databases.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High Operational Costs: </a:t>
            </a:r>
            <a:r>
              <a:rPr sz="1400">
                <a:solidFill>
                  <a:srgbClr val="CBD5E1"/>
                </a:solidFill>
              </a:rPr>
              <a:t>Manual document auditing costs organizations up to $15-$30 per invoice processed.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High Error Rates &amp; Fraud Risk: </a:t>
            </a:r>
            <a:r>
              <a:rPr sz="1400">
                <a:solidFill>
                  <a:srgbClr val="CBD5E1"/>
                </a:solidFill>
              </a:rPr>
              <a:t>Human data entry error rates average 2%-5%, leading to duplicate payments and compliance risks.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Lack of Real-Time Analytics: </a:t>
            </a:r>
            <a:r>
              <a:rPr sz="1400">
                <a:solidFill>
                  <a:srgbClr val="CBD5E1"/>
                </a:solidFill>
              </a:rPr>
              <a:t>Unstructured PDF/image documents prevent real-time financial auditing and spend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190500" rtlCol="0" anchor="t"/>
          <a:lstStyle/>
          <a:p>
            <a:pPr algn="l">
              <a:defRPr sz="1500" b="1" spc="120">
                <a:solidFill>
                  <a:srgbClr val="10B981"/>
                </a:solidFill>
              </a:defRPr>
            </a:pPr>
            <a:r>
              <a:t>OUR AWS AI/ML SOLUTION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Sub-Second Automated Extraction: </a:t>
            </a:r>
            <a:r>
              <a:rPr sz="1400">
                <a:solidFill>
                  <a:srgbClr val="CBD5E1"/>
                </a:solidFill>
              </a:rPr>
              <a:t>Instant computer vision OCR and NLP extraction directly from raw PDF, PNG, JPG, or DOC files.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Serverless Event-Driven Core: </a:t>
            </a:r>
            <a:r>
              <a:rPr sz="1400">
                <a:solidFill>
                  <a:srgbClr val="CBD5E1"/>
                </a:solidFill>
              </a:rPr>
              <a:t>Zero infrastructure management. AWS Lambda &amp; Amazon S3 scale automatically from 1 to 100,000+ files.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Deep Document Understanding: </a:t>
            </a:r>
            <a:r>
              <a:rPr sz="1400">
                <a:solidFill>
                  <a:srgbClr val="CBD5E1"/>
                </a:solidFill>
              </a:rPr>
              <a:t>Combines Amazon Textract (table grid, key-values, forms) with Amazon Comprehend (entities, sentiment, PII).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90%+ Cost Reduction: </a:t>
            </a:r>
            <a:r>
              <a:rPr sz="1400">
                <a:solidFill>
                  <a:srgbClr val="CBD5E1"/>
                </a:solidFill>
              </a:rPr>
              <a:t>Processing cost drops to under $0.02 per document with over 99% extraction accuracy.</a:t>
            </a:r>
          </a:p>
        </p:txBody>
      </p:sp>
      <p:sp>
        <p:nvSpPr>
          <p:cNvPr id="90" name="Accent Rule"/>
          <p:cNvSpPr/>
          <p:nvPr/>
        </p:nvSpPr>
        <p:spPr>
          <a:xfrm>
            <a:off x="736600" y="1460500"/>
            <a:ext cx="812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558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C30"/>
            </a:gs>
            <a:gs pos="55000">
              <a:srgbClr val="0B1120"/>
            </a:gs>
            <a:gs pos="100000">
              <a:srgbClr val="070B1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AWS AI/ML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End-to-End AWS Serverless ML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304800" rIns="203200" bIns="190500" rtlCol="0" anchor="t"/>
          <a:lstStyle/>
          <a:p>
            <a:pPr algn="l">
              <a:defRPr sz="1300" b="1" spc="120">
                <a:solidFill>
                  <a:srgbClr val="38BDF8"/>
                </a:solidFill>
              </a:defRPr>
            </a:pPr>
            <a:r>
              <a:t>1. INGESTION LAYER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Amazon S3 &amp; API Gateway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Amazon S3 Bucket: paymentdocumentbucket stores raw uploads.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Direct S3 SDK Upload (@aws-sdk/client-s3) from browser.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API Gateway v2: HTTP API with Cors wildcard (*) and $default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304800" rIns="203200" bIns="190500" rtlCol="0" anchor="t"/>
          <a:lstStyle/>
          <a:p>
            <a:pPr algn="l">
              <a:defRPr sz="1300" b="1" spc="120">
                <a:solidFill>
                  <a:srgbClr val="F59E0B"/>
                </a:solidFill>
              </a:defRPr>
            </a:pPr>
            <a:r>
              <a:t>2. COMPUTE LAYER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AWS Lambda Function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Python 3.11 Serverless Execution Handler.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Event Trigger: s3:ObjectCreated:Put payload dispatch.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Top-level error handling &amp; lazy boto3 client initialization.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304800" rIns="203200" bIns="190500" rtlCol="0" anchor="t"/>
          <a:lstStyle/>
          <a:p>
            <a:pPr algn="l">
              <a:defRPr sz="1300" b="1" spc="120">
                <a:solidFill>
                  <a:srgbClr val="10B981"/>
                </a:solidFill>
              </a:defRPr>
            </a:pPr>
            <a:r>
              <a:t>3. COMPUTER VISION OCR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Amazon Textract API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analyze_expense(): Specialized invoice &amp; receipt extraction.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detect_document_text(): Computer vision OCR fallback for forms &amp; applications.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Extracts Raw Tokens, Key-Value Sets, and HTML Table Grids.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304800" rIns="203200" bIns="190500" rtlCol="0" anchor="t"/>
          <a:lstStyle/>
          <a:p>
            <a:pPr algn="l">
              <a:defRPr sz="1300" b="1" spc="120">
                <a:solidFill>
                  <a:srgbClr val="38BDF8"/>
                </a:solidFill>
              </a:defRPr>
            </a:pPr>
            <a:r>
              <a:t>4. NLP &amp; AUDIT LAYER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Amazon Comprehend API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detect_entities(): Extracts PERSON, ORG, DATE, QUANTITY, PII.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detect_key_phrases(): Topic categorization &amp; phrase analysis.</a:t>
            </a:r>
          </a:p>
          <a:p>
            <a:pPr>
              <a:lnSpc>
                <a:spcPct val="105000"/>
              </a:lnSpc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Sentiment &amp; Audit Scoring for automated risk detection.</a:t>
            </a:r>
          </a:p>
        </p:txBody>
      </p:sp>
      <p:sp>
        <p:nvSpPr>
          <p:cNvPr id="90" name="Accent Rule"/>
          <p:cNvSpPr/>
          <p:nvPr/>
        </p:nvSpPr>
        <p:spPr>
          <a:xfrm>
            <a:off x="736600" y="1460500"/>
            <a:ext cx="812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3785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C30"/>
            </a:gs>
            <a:gs pos="55000">
              <a:srgbClr val="0B1120"/>
            </a:gs>
            <a:gs pos="100000">
              <a:srgbClr val="070B1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AWS AI/ML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Deep Dive: Amazon Textract Computer Vision OCR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228600" rtlCol="0" anchor="t"/>
          <a:lstStyle/>
          <a:p>
            <a:pPr algn="l">
              <a:defRPr sz="1500" b="1" spc="120">
                <a:solidFill>
                  <a:srgbClr val="F59E0B"/>
                </a:solidFill>
              </a:defRPr>
            </a:pPr>
            <a:r>
              <a:t>TEXTRACT OCR API CAPABILITIES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AnalyzeExpense API: </a:t>
            </a:r>
            <a:r>
              <a:rPr sz="1400">
                <a:solidFill>
                  <a:srgbClr val="CBD5E1"/>
                </a:solidFill>
              </a:rPr>
              <a:t>Trained on millions of receipts &amp; invoices. Automatically detects Vendor Name, Total Amount, Tax/VAT, Date, Invoice ID, and Line Items.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DetectDocumentText API: </a:t>
            </a:r>
            <a:r>
              <a:rPr sz="1400">
                <a:solidFill>
                  <a:srgbClr val="CBD5E1"/>
                </a:solidFill>
              </a:rPr>
              <a:t>Deep learning computer vision model for extracting unstructured text blocks, forms, employment applications, and contracts.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Confidence Scoring: </a:t>
            </a:r>
            <a:r>
              <a:rPr sz="1400">
                <a:solidFill>
                  <a:srgbClr val="CBD5E1"/>
                </a:solidFill>
              </a:rPr>
              <a:t>Provides mathematical confidence percentages (e.g. 99.4%) for every single extracted word, bounding box, and key-value pair.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228600" rtlCol="0" anchor="t"/>
          <a:lstStyle/>
          <a:p>
            <a:pPr algn="l">
              <a:defRPr sz="1500" b="1" spc="120">
                <a:solidFill>
                  <a:srgbClr val="38BDF8"/>
                </a:solidFill>
              </a:defRPr>
            </a:pPr>
            <a:r>
              <a:t>TEXTRACT STUDIO OUTPUT MODES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Raw Text Token View: </a:t>
            </a:r>
            <a:r>
              <a:rPr sz="1400">
                <a:solidFill>
                  <a:srgbClr val="CBD5E1"/>
                </a:solidFill>
              </a:rPr>
              <a:t>Individual word &amp; line pill-tag tokens extracted with bounding box geometries.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Forms (KEY_VALUE_SET): </a:t>
            </a:r>
            <a:r>
              <a:rPr sz="1400">
                <a:solidFill>
                  <a:srgbClr val="CBD5E1"/>
                </a:solidFill>
              </a:rPr>
              <a:t>Structured key-value pairs (e.g. 'Your reference' -&gt; 'Brit Ritish', 'IBAN' -&gt; 'AABBCCC...').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Tables (TABLE_CELL Grid): </a:t>
            </a:r>
            <a:r>
              <a:rPr sz="1400">
                <a:solidFill>
                  <a:srgbClr val="CBD5E1"/>
                </a:solidFill>
              </a:rPr>
              <a:t>Automatically reconstructs complex document HTML tables and multi-column grid cells.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Queries &amp; Signatures: </a:t>
            </a:r>
            <a:r>
              <a:rPr sz="1400">
                <a:solidFill>
                  <a:srgbClr val="CBD5E1"/>
                </a:solidFill>
              </a:rPr>
              <a:t>Targeted custom document query answers and automated signature/stamp verification.</a:t>
            </a:r>
          </a:p>
        </p:txBody>
      </p:sp>
      <p:sp>
        <p:nvSpPr>
          <p:cNvPr id="90" name="Accent Rule"/>
          <p:cNvSpPr/>
          <p:nvPr/>
        </p:nvSpPr>
        <p:spPr>
          <a:xfrm>
            <a:off x="736600" y="1460500"/>
            <a:ext cx="812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37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C30"/>
            </a:gs>
            <a:gs pos="55000">
              <a:srgbClr val="0B1120"/>
            </a:gs>
            <a:gs pos="100000">
              <a:srgbClr val="070B1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AWS AI/ML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Deep Dive: Amazon Comprehend Natural Language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190500" rtlCol="0" anchor="t"/>
          <a:lstStyle/>
          <a:p>
            <a:pPr algn="l">
              <a:defRPr sz="1500" b="1" spc="120">
                <a:solidFill>
                  <a:srgbClr val="10B981"/>
                </a:solidFill>
              </a:defRPr>
            </a:pPr>
            <a:r>
              <a:t>NAMED ENTITY RECOGNITION (NER)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ORGANIZATION: Detects companies, banks, and vendors (e.g., Invotech Solutions, ZigBank, Apple UK).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PERSON: Identifies applicant &amp; reference names (e.g., Jane Doe, Brit Ritish, Per Andersson).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QUANTITY &amp; CURRENCY: Extracts total values (£10.00, €125.00, $145.00).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LOCATION &amp; DATE: Identifies billing addresses &amp; expiration 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190500" rtlCol="0" anchor="t"/>
          <a:lstStyle/>
          <a:p>
            <a:pPr algn="l">
              <a:defRPr sz="1500" b="1" spc="120">
                <a:solidFill>
                  <a:srgbClr val="38BDF8"/>
                </a:solidFill>
              </a:defRPr>
            </a:pPr>
            <a:r>
              <a:t>KEY PHRASES &amp; CATEGORIZATION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Key Phrase Extraction: Identifies dominant noun phrases &amp; business topics.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Automated Taxonomy: Categorizes documents into 'Banking &amp; Transfer', 'Event &amp; Communication', or 'Employment &amp; HR'.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Search Indexing: Enables full-text semantic searching across millions of stored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190500" rtlCol="0" anchor="t"/>
          <a:lstStyle/>
          <a:p>
            <a:pPr algn="l">
              <a:defRPr sz="1500" b="1" spc="120">
                <a:solidFill>
                  <a:srgbClr val="F59E0B"/>
                </a:solidFill>
              </a:defRPr>
            </a:pPr>
            <a:r>
              <a:t>SENTIMENT &amp; COMPLIANCE AUDIT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Sentiment Scoring: Analyzes document sentiment (Positive, Neutral, Negative, Mixed).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PII Detection: Flags sensitive data such as bank account numbers, phone numbers, and SSNs.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• Automated Risk Notes: Highlights overdue payment terms, missing signatures, or invoice anomalies.</a:t>
            </a:r>
          </a:p>
        </p:txBody>
      </p:sp>
      <p:sp>
        <p:nvSpPr>
          <p:cNvPr id="90" name="Accent Rule"/>
          <p:cNvSpPr/>
          <p:nvPr/>
        </p:nvSpPr>
        <p:spPr>
          <a:xfrm>
            <a:off x="736600" y="1460500"/>
            <a:ext cx="812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2923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C30"/>
            </a:gs>
            <a:gs pos="55000">
              <a:srgbClr val="0B1120"/>
            </a:gs>
            <a:gs pos="100000">
              <a:srgbClr val="070B1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AWS AI/ML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Technical Resilience, Security &amp;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78000"/>
            <a:ext cx="5120640" cy="200660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228600" rtlCol="0" anchor="t"/>
          <a:lstStyle/>
          <a:p>
            <a:pPr algn="l">
              <a:defRPr sz="1500" b="1" spc="120">
                <a:solidFill>
                  <a:srgbClr val="38BDF8"/>
                </a:solidFill>
              </a:defRPr>
            </a:pPr>
            <a:r>
              <a:t>API GATEWAY CORS &amp; ROUTING</a:t>
            </a:r>
          </a:p>
          <a:p>
            <a:pPr>
              <a:lnSpc>
                <a:spcPct val="105000"/>
              </a:lnSpc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Configured HTTP API v2 with wildcard headers (AllowHeaders: *) and $default route key, eliminating browser cross-origin preflight issues.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78000"/>
            <a:ext cx="5120640" cy="200660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228600" rtlCol="0" anchor="t"/>
          <a:lstStyle/>
          <a:p>
            <a:pPr algn="l">
              <a:defRPr sz="1500" b="1" spc="120">
                <a:solidFill>
                  <a:srgbClr val="F59E0B"/>
                </a:solidFill>
              </a:defRPr>
            </a:pPr>
            <a:r>
              <a:t>LOCALSTORAGE PERSISTENCE</a:t>
            </a:r>
          </a:p>
          <a:p>
            <a:pPr>
              <a:lnSpc>
                <a:spcPct val="105000"/>
              </a:lnSpc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Saves API Gateway URLs, S3 bucket names, and IAM keys in browser LocalStorage so page refreshes retain configuration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38600"/>
            <a:ext cx="5120640" cy="200660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228600" rtlCol="0" anchor="t"/>
          <a:lstStyle/>
          <a:p>
            <a:pPr algn="l">
              <a:defRPr sz="1500" b="1" spc="120">
                <a:solidFill>
                  <a:srgbClr val="10B981"/>
                </a:solidFill>
              </a:defRPr>
            </a:pPr>
            <a:r>
              <a:t>DIRECT AWS S3 SDK UPLOAD</a:t>
            </a:r>
          </a:p>
          <a:p>
            <a:pPr>
              <a:lnSpc>
                <a:spcPct val="105000"/>
              </a:lnSpc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Integrates @aws-sdk/client-s3 PutObjectCommand to write files directly into paymentdocumentbucket with zero intermediary server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38600"/>
            <a:ext cx="5120640" cy="200660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228600" rtlCol="0" anchor="t"/>
          <a:lstStyle/>
          <a:p>
            <a:pPr algn="l">
              <a:defRPr sz="1500" b="1" spc="120">
                <a:solidFill>
                  <a:srgbClr val="38BDF8"/>
                </a:solidFill>
              </a:defRPr>
            </a:pPr>
            <a:r>
              <a:t>1-CLICK CLOUDFORMATION &amp; TEARDOWN</a:t>
            </a:r>
          </a:p>
          <a:p>
            <a:pPr>
              <a:lnSpc>
                <a:spcPct val="105000"/>
              </a:lnSpc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Automated SAM/CloudFormation template deployment and 1-click teardown button ensuring clean resource lifecycle management.</a:t>
            </a:r>
          </a:p>
        </p:txBody>
      </p:sp>
      <p:sp>
        <p:nvSpPr>
          <p:cNvPr id="90" name="Accent Rule"/>
          <p:cNvSpPr/>
          <p:nvPr/>
        </p:nvSpPr>
        <p:spPr>
          <a:xfrm>
            <a:off x="736600" y="1460500"/>
            <a:ext cx="812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069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C30"/>
            </a:gs>
            <a:gs pos="55000">
              <a:srgbClr val="0B1120"/>
            </a:gs>
            <a:gs pos="100000">
              <a:srgbClr val="070B1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AWS AI/ML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Stakeholder ROI &amp; Live Demo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190500" rtlCol="0" anchor="t"/>
          <a:lstStyle/>
          <a:p>
            <a:pPr algn="l">
              <a:defRPr sz="1500" b="1" spc="120">
                <a:solidFill>
                  <a:srgbClr val="10B981"/>
                </a:solidFill>
              </a:defRPr>
            </a:pPr>
            <a:r>
              <a:t>STAKEHOLDER VALUE &amp; METRICS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Speed to Value: </a:t>
            </a:r>
            <a:r>
              <a:rPr sz="1400">
                <a:solidFill>
                  <a:srgbClr val="CBD5E1"/>
                </a:solidFill>
              </a:rPr>
              <a:t>Document extraction time reduced from 5-10 minutes of manual entry to under 2.5 seconds.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Operational Cost Savings: </a:t>
            </a:r>
            <a:r>
              <a:rPr sz="1400">
                <a:solidFill>
                  <a:srgbClr val="CBD5E1"/>
                </a:solidFill>
              </a:rPr>
              <a:t>Reduces document processing expenses by up to 92% per file processed.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Accuracy &amp; Compliance: </a:t>
            </a:r>
            <a:r>
              <a:rPr sz="1400">
                <a:solidFill>
                  <a:srgbClr val="CBD5E1"/>
                </a:solidFill>
              </a:rPr>
              <a:t>Achieves 99%+ extraction confidence with full audit logs in Amazon CloudWatch.</a:t>
            </a:r>
          </a:p>
          <a:p>
            <a:pPr>
              <a:lnSpc>
                <a:spcPct val="105000"/>
              </a:lnSpc>
              <a:spcBef>
                <a:spcPts val="1400"/>
              </a:spcBef>
            </a:pPr>
            <a:r>
              <a:rPr sz="1400" b="1">
                <a:solidFill>
                  <a:srgbClr val="FFFFFF"/>
                </a:solidFill>
              </a:rPr>
              <a:t>• Scalability: </a:t>
            </a:r>
            <a:r>
              <a:rPr sz="1400">
                <a:solidFill>
                  <a:srgbClr val="CBD5E1"/>
                </a:solidFill>
              </a:rPr>
              <a:t>Serverless architecture handles 1 file or 100,000 files concurrently without server provisioning.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gradFill rotWithShape="1">
            <a:gsLst>
              <a:gs pos="0">
                <a:srgbClr val="17233B"/>
              </a:gs>
              <a:gs pos="100000">
                <a:srgbClr val="0E1729"/>
              </a:gs>
            </a:gsLst>
            <a:lin ang="5400000" scaled="0"/>
          </a:gradFill>
          <a:ln w="12700">
            <a:solidFill>
              <a:srgbClr val="36598C"/>
            </a:solidFill>
          </a:ln>
          <a:effectLst>
            <a:outerShdw blurRad="152400" dist="381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bIns="190500" rtlCol="0" anchor="t"/>
          <a:lstStyle/>
          <a:p>
            <a:pPr algn="l">
              <a:defRPr sz="1500" b="1" spc="120">
                <a:solidFill>
                  <a:srgbClr val="F59E0B"/>
                </a:solidFill>
              </a:defRPr>
            </a:pPr>
            <a:r>
              <a:t>LIVE DEMO STEPS FOR STAKEHOLDERS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1. Open Application: Highlight persistent AWS Live Mode status bar.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2. Upload Station: Drag &amp; drop mark-payment.png or employment_form.png.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3. Live S3 Verification: Show file written directly into s3://payment-ai-stack-paymentdocumentbucket.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4. Amazon Textract Studio: Toggle Raw text, Forms, and Table grid tabs.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5. Amazon Comprehend Studio: Inspect extracted entities, sentiment score, and PII audit.</a:t>
            </a:r>
          </a:p>
          <a:p>
            <a:pPr>
              <a:lnSpc>
                <a:spcPct val="105000"/>
              </a:lnSpc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6. Result Export: Click 'Download Results' to download the raw JSON payload.</a:t>
            </a:r>
          </a:p>
        </p:txBody>
      </p:sp>
      <p:sp>
        <p:nvSpPr>
          <p:cNvPr id="90" name="Accent Rule"/>
          <p:cNvSpPr/>
          <p:nvPr/>
        </p:nvSpPr>
        <p:spPr>
          <a:xfrm>
            <a:off x="736600" y="1460500"/>
            <a:ext cx="812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0729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A2ECC3-C5AC-4DF0-9010-139E7A56841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2fb3a06-0d9d-44a9-a7db-52829256b132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144c84d9-591f-42df-bb8f-0d44a09d18be}" enabled="1" method="Standard" siteId="{7b56e7fe-ca45-43ab-9708-7041a75125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1107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VedBhasker Tripathi</cp:lastModifiedBy>
  <cp:revision>3</cp:revision>
  <dcterms:created xsi:type="dcterms:W3CDTF">2013-01-27T09:14:16Z</dcterms:created>
  <dcterms:modified xsi:type="dcterms:W3CDTF">2026-08-12T22:15:16Z</dcterms:modified>
  <cp:category/>
</cp:coreProperties>
</file>