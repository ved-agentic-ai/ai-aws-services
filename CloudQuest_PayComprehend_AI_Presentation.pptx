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AWS CLOUD QUEST &amp; ENTERPRISE AI ARCHITECTURE DECK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PayComprehend AI: Nordic Financial Risk Intelligence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Serverless Intelligent Document Processing (IDP) • Amazon Textract + Comprehend + Bedrock GenAI + Nordic Risk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10362895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F59E0B"/>
                </a:solidFill>
              </a:rPr>
              <a:t>⚡ 99.1% Operational Cost Reduction:</a:t>
            </a:r>
            <a:r>
              <a:rPr sz="1150">
                <a:solidFill>
                  <a:srgbClr val="FFFFFF"/>
                </a:solidFill>
              </a:rPr>
              <a:t> Manual invoice entry ($18.00/doc) reduced to $0.015/doc via AWS Serverless OCR &amp; NLP.</a:t>
            </a:r>
          </a:p>
          <a:p>
            <a:r>
              <a:rPr b="1" sz="1150">
                <a:solidFill>
                  <a:srgbClr val="10B981"/>
                </a:solidFill>
              </a:rPr>
              <a:t>🇸🇪 Nordic Financial Riskklass Engine:</a:t>
            </a:r>
            <a:r>
              <a:rPr sz="1150">
                <a:solidFill>
                  <a:srgbClr val="FFFFFF"/>
                </a:solidFill>
              </a:rPr>
              <a:t> Automatic calculation of Riskklass 1-5, Swedish Org.nr validation, F-skatt status &amp; Bankgiro audit.</a:t>
            </a:r>
          </a:p>
          <a:p>
            <a:r>
              <a:rPr b="1" sz="1150">
                <a:solidFill>
                  <a:srgbClr val="38BDF8"/>
                </a:solidFill>
              </a:rPr>
              <a:t>🧠 Amazon Bedrock (Claude 3.5 Sonnet):</a:t>
            </a:r>
            <a:r>
              <a:rPr sz="1150">
                <a:solidFill>
                  <a:srgbClr val="FFFFFF"/>
                </a:solidFill>
              </a:rPr>
              <a:t> Deep financial mismatch explanations &amp; insolvency probability scoring.</a:t>
            </a:r>
          </a:p>
          <a:p>
            <a:r>
              <a:rPr b="1" sz="1150">
                <a:solidFill>
                  <a:srgbClr val="38BDF8"/>
                </a:solidFill>
              </a:rPr>
              <a:t>🛡️ Heavy AWS Services Safeguard:</a:t>
            </a:r>
            <a:r>
              <a:rPr sz="1150">
                <a:solidFill>
                  <a:srgbClr val="FFFFFF"/>
                </a:solidFill>
              </a:rPr>
              <a:t> Itemized cost confirmation modal preventing unexpected AWS cloud spend.</a:t>
            </a:r>
          </a:p>
          <a:p>
            <a:r>
              <a:rPr b="1" sz="1150">
                <a:solidFill>
                  <a:srgbClr val="38BDF8"/>
                </a:solidFill>
              </a:rPr>
              <a:t>☁️ CloudFormation 1-Click Teardown:</a:t>
            </a:r>
            <a:r>
              <a:rPr sz="1150">
                <a:solidFill>
                  <a:srgbClr val="FFFFFF"/>
                </a:solidFill>
              </a:rPr>
              <a:t> 100% stack cleanup guarantee including S3 buckets, Lambda &amp; CloudWatch Log Groups.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01 - PLATFORM STANDBY STATE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AWS AI Command Center Hero Screen</a:t>
            </a:r>
          </a:p>
        </p:txBody>
      </p:sp>
      <p:pic>
        <p:nvPicPr>
          <p:cNvPr id="3" name="Picture 2" descr="10_standby_hero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AWS Region: </a:t>
            </a:r>
            <a:r>
              <a:rPr sz="1050">
                <a:solidFill>
                  <a:srgbClr val="FFFFFF"/>
                </a:solidFill>
              </a:rPr>
              <a:t>us-east-1 (N. Virginia)</a:t>
            </a:r>
          </a:p>
          <a:p>
            <a:r>
              <a:rPr b="1" sz="1100">
                <a:solidFill>
                  <a:srgbClr val="38BDF8"/>
                </a:solidFill>
              </a:rPr>
              <a:t>• S3 Ingestion Bucket: </a:t>
            </a:r>
            <a:r>
              <a:rPr sz="1050">
                <a:solidFill>
                  <a:srgbClr val="FFFFFF"/>
                </a:solidFill>
              </a:rPr>
              <a:t>payment-docs-ai-dev-69753455</a:t>
            </a:r>
          </a:p>
          <a:p>
            <a:r>
              <a:rPr b="1" sz="1100">
                <a:solidFill>
                  <a:srgbClr val="38BDF8"/>
                </a:solidFill>
              </a:rPr>
              <a:t>• Lambda Function: </a:t>
            </a:r>
            <a:r>
              <a:rPr sz="1050">
                <a:solidFill>
                  <a:srgbClr val="FFFFFF"/>
                </a:solidFill>
              </a:rPr>
              <a:t>PaymentDocProcessorFunction-dev</a:t>
            </a:r>
          </a:p>
          <a:p>
            <a:r>
              <a:rPr b="1" sz="1100">
                <a:solidFill>
                  <a:srgbClr val="38BDF8"/>
                </a:solidFill>
              </a:rPr>
              <a:t>• Telemetry Status: </a:t>
            </a:r>
            <a:r>
              <a:rPr sz="1050">
                <a:solidFill>
                  <a:srgbClr val="FFFFFF"/>
                </a:solidFill>
              </a:rPr>
              <a:t>Operational (Latency &lt; 1.8s)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Renders when all top header tabs are collapsed.</a:t>
            </a:r>
          </a:p>
          <a:p>
            <a:r>
              <a:rPr sz="1050">
                <a:solidFill>
                  <a:srgbClr val="94A3B8"/>
                </a:solidFill>
              </a:rPr>
              <a:t>✓ Features central animated glowing AWS AI orb.</a:t>
            </a:r>
          </a:p>
          <a:p>
            <a:r>
              <a:rPr sz="1050">
                <a:solidFill>
                  <a:srgbClr val="94A3B8"/>
                </a:solidFill>
              </a:rPr>
              <a:t>✓ Includes 4 quick-action launch module cards.</a:t>
            </a:r>
          </a:p>
          <a:p>
            <a:r>
              <a:rPr sz="1050">
                <a:solidFill>
                  <a:srgbClr val="94A3B8"/>
                </a:solidFill>
              </a:rPr>
              <a:t>✓ Real-time telemetry bar showing active pipeline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02 - EXECUTIVE DASHBOARD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Real-Time Financial Spending Analytics &amp; OCR Confidence</a:t>
            </a:r>
          </a:p>
        </p:txBody>
      </p:sp>
      <p:pic>
        <p:nvPicPr>
          <p:cNvPr id="3" name="Picture 2" descr="01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Analytics Source: </a:t>
            </a:r>
            <a:r>
              <a:rPr sz="1050">
                <a:solidFill>
                  <a:srgbClr val="FFFFFF"/>
                </a:solidFill>
              </a:rPr>
              <a:t>S3 JSON extraction records</a:t>
            </a:r>
          </a:p>
          <a:p>
            <a:r>
              <a:rPr b="1" sz="1100">
                <a:solidFill>
                  <a:srgbClr val="38BDF8"/>
                </a:solidFill>
              </a:rPr>
              <a:t>• OCR Engine: </a:t>
            </a:r>
            <a:r>
              <a:rPr sz="1050">
                <a:solidFill>
                  <a:srgbClr val="FFFFFF"/>
                </a:solidFill>
              </a:rPr>
              <a:t>Amazon Textract AnalyzeExpense</a:t>
            </a:r>
          </a:p>
          <a:p>
            <a:r>
              <a:rPr b="1" sz="1100">
                <a:solidFill>
                  <a:srgbClr val="38BDF8"/>
                </a:solidFill>
              </a:rPr>
              <a:t>• NLP Engine: </a:t>
            </a:r>
            <a:r>
              <a:rPr sz="1050">
                <a:solidFill>
                  <a:srgbClr val="FFFFFF"/>
                </a:solidFill>
              </a:rPr>
              <a:t>Amazon Comprehend NER &amp; Sentiment</a:t>
            </a:r>
          </a:p>
          <a:p>
            <a:r>
              <a:rPr b="1" sz="1100">
                <a:solidFill>
                  <a:srgbClr val="38BDF8"/>
                </a:solidFill>
              </a:rPr>
              <a:t>• Metric Cards: </a:t>
            </a:r>
            <a:r>
              <a:rPr sz="1050">
                <a:solidFill>
                  <a:srgbClr val="FFFFFF"/>
                </a:solidFill>
              </a:rPr>
              <a:t>Total Spend, File Count, Top Vendor, Confidence, Risk Alerts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Real-time expenditure aggregation across uploaded invoices.</a:t>
            </a:r>
          </a:p>
          <a:p>
            <a:r>
              <a:rPr sz="1050">
                <a:solidFill>
                  <a:srgbClr val="94A3B8"/>
                </a:solidFill>
              </a:rPr>
              <a:t>✓ Top Spend Vendor identification &amp; expense breakdown.</a:t>
            </a:r>
          </a:p>
          <a:p>
            <a:r>
              <a:rPr sz="1050">
                <a:solidFill>
                  <a:srgbClr val="94A3B8"/>
                </a:solidFill>
              </a:rPr>
              <a:t>✓ Interactive expenditure timeline &amp; vendor spend bar charts.</a:t>
            </a:r>
          </a:p>
          <a:p>
            <a:r>
              <a:rPr sz="1050">
                <a:solidFill>
                  <a:srgbClr val="94A3B8"/>
                </a:solidFill>
              </a:rPr>
              <a:t>✓ Comprehend NLP highlights showing sentiment &amp; risk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03 - UPLOAD STATION &amp; S3 DIRECT INGESTION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Direct AWS S3 Upload &amp; Collapsible 4-Step Pipeline Flow</a:t>
            </a:r>
          </a:p>
        </p:txBody>
      </p:sp>
      <p:pic>
        <p:nvPicPr>
          <p:cNvPr id="3" name="Picture 2" descr="02_uploa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S3 CORS Policy: </a:t>
            </a:r>
            <a:r>
              <a:rPr sz="1050">
                <a:solidFill>
                  <a:srgbClr val="FFFFFF"/>
                </a:solidFill>
              </a:rPr>
              <a:t>AllowedOrigins: [*], AllowedMethods: [PUT, POST]</a:t>
            </a:r>
          </a:p>
          <a:p>
            <a:r>
              <a:rPr b="1" sz="1100">
                <a:solidFill>
                  <a:srgbClr val="38BDF8"/>
                </a:solidFill>
              </a:rPr>
              <a:t>• SDK Ingestion: </a:t>
            </a:r>
            <a:r>
              <a:rPr sz="1050">
                <a:solidFill>
                  <a:srgbClr val="FFFFFF"/>
                </a:solidFill>
              </a:rPr>
              <a:t>@aws-sdk/client-s3 PutObjectCommand</a:t>
            </a:r>
          </a:p>
          <a:p>
            <a:r>
              <a:rPr b="1" sz="1100">
                <a:solidFill>
                  <a:srgbClr val="38BDF8"/>
                </a:solidFill>
              </a:rPr>
              <a:t>• Supported Formats: </a:t>
            </a:r>
            <a:r>
              <a:rPr sz="1050">
                <a:solidFill>
                  <a:srgbClr val="FFFFFF"/>
                </a:solidFill>
              </a:rPr>
              <a:t>.PDF, .PNG, .JPG, .DOC, .DOCX</a:t>
            </a:r>
          </a:p>
          <a:p>
            <a:r>
              <a:rPr b="1" sz="1100">
                <a:solidFill>
                  <a:srgbClr val="38BDF8"/>
                </a:solidFill>
              </a:rPr>
              <a:t>• Lambda Trigger: </a:t>
            </a:r>
            <a:r>
              <a:rPr sz="1050">
                <a:solidFill>
                  <a:srgbClr val="FFFFFF"/>
                </a:solidFill>
              </a:rPr>
              <a:t>S3 ObjectCreated notification payload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Drag-and-drop file uploader supporting multi-format files.</a:t>
            </a:r>
          </a:p>
          <a:p>
            <a:r>
              <a:rPr sz="1050">
                <a:solidFill>
                  <a:srgbClr val="94A3B8"/>
                </a:solidFill>
              </a:rPr>
              <a:t>✓ Direct S3 bucket upload bypassing server bottlenecks.</a:t>
            </a:r>
          </a:p>
          <a:p>
            <a:r>
              <a:rPr sz="1050">
                <a:solidFill>
                  <a:srgbClr val="94A3B8"/>
                </a:solidFill>
              </a:rPr>
              <a:t>✓ Collapsible 4-step pipeline workflow panel (closed by default).</a:t>
            </a:r>
          </a:p>
          <a:p>
            <a:r>
              <a:rPr sz="1050">
                <a:solidFill>
                  <a:srgbClr val="94A3B8"/>
                </a:solidFill>
              </a:rPr>
              <a:t>✓ Automatic fallback for universal file parsing.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04 - DOCUMENT EXPLORER MODULE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Nordic Financial Riskklass 1-5 Badges &amp; Table Filtering</a:t>
            </a:r>
          </a:p>
        </p:txBody>
      </p:sp>
      <p:pic>
        <p:nvPicPr>
          <p:cNvPr id="3" name="Picture 2" descr="03_explorer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Risk Klass Algorithm: </a:t>
            </a:r>
            <a:r>
              <a:rPr sz="1050">
                <a:solidFill>
                  <a:srgbClr val="FFFFFF"/>
                </a:solidFill>
              </a:rPr>
              <a:t>Nordic Swedish Credit Risk Matrix (0-100)</a:t>
            </a:r>
          </a:p>
          <a:p>
            <a:r>
              <a:rPr b="1" sz="1100">
                <a:solidFill>
                  <a:srgbClr val="38BDF8"/>
                </a:solidFill>
              </a:rPr>
              <a:t>• Org.nr Validator: </a:t>
            </a:r>
            <a:r>
              <a:rPr sz="1050">
                <a:solidFill>
                  <a:srgbClr val="FFFFFF"/>
                </a:solidFill>
              </a:rPr>
              <a:t>Modulus-10 Luhn checksum check</a:t>
            </a:r>
          </a:p>
          <a:p>
            <a:r>
              <a:rPr b="1" sz="1100">
                <a:solidFill>
                  <a:srgbClr val="38BDF8"/>
                </a:solidFill>
              </a:rPr>
              <a:t>• Tax Compliance: </a:t>
            </a:r>
            <a:r>
              <a:rPr sz="1050">
                <a:solidFill>
                  <a:srgbClr val="FFFFFF"/>
                </a:solidFill>
              </a:rPr>
              <a:t>Godkänd för F-skatt status check</a:t>
            </a:r>
          </a:p>
          <a:p>
            <a:r>
              <a:rPr b="1" sz="1100">
                <a:solidFill>
                  <a:srgbClr val="38BDF8"/>
                </a:solidFill>
              </a:rPr>
              <a:t>• Payment Method Audit: </a:t>
            </a:r>
            <a:r>
              <a:rPr sz="1050">
                <a:solidFill>
                  <a:srgbClr val="FFFFFF"/>
                </a:solidFill>
              </a:rPr>
              <a:t>Bankgiro / Plusgiro matching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Interactive search across vendor, file name &amp; invoice numbers.</a:t>
            </a:r>
          </a:p>
          <a:p>
            <a:r>
              <a:rPr sz="1050">
                <a:solidFill>
                  <a:srgbClr val="94A3B8"/>
                </a:solidFill>
              </a:rPr>
              <a:t>✓ Filter by category, processing status &amp; spend sorting.</a:t>
            </a:r>
          </a:p>
          <a:p>
            <a:r>
              <a:rPr sz="1050">
                <a:solidFill>
                  <a:srgbClr val="94A3B8"/>
                </a:solidFill>
              </a:rPr>
              <a:t>✓ Displays Nordic Riskklass badges (Guld 5 to Röd 1).</a:t>
            </a:r>
          </a:p>
          <a:p>
            <a:r>
              <a:rPr sz="1050">
                <a:solidFill>
                  <a:srgbClr val="94A3B8"/>
                </a:solidFill>
              </a:rPr>
              <a:t>✓ Exact currency formatting (£, €, $) per extracted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05 - DEEP DOCUMENT AUDIT &amp; BEDROCK GENAI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Amazon Bedrock (Claude 3.5 Sonnet) &amp; Rekognition Audit</a:t>
            </a:r>
          </a:p>
        </p:txBody>
      </p:sp>
      <p:pic>
        <p:nvPicPr>
          <p:cNvPr id="3" name="Picture 2" descr="04_document_detai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GenAI LLM Model: </a:t>
            </a:r>
            <a:r>
              <a:rPr sz="1050">
                <a:solidFill>
                  <a:srgbClr val="FFFFFF"/>
                </a:solidFill>
              </a:rPr>
              <a:t>Anthropic Claude 3.5 Sonnet via Bedrock</a:t>
            </a:r>
          </a:p>
          <a:p>
            <a:r>
              <a:rPr b="1" sz="1100">
                <a:solidFill>
                  <a:srgbClr val="38BDF8"/>
                </a:solidFill>
              </a:rPr>
              <a:t>• OCR Key-Value: </a:t>
            </a:r>
            <a:r>
              <a:rPr sz="1050">
                <a:solidFill>
                  <a:srgbClr val="FFFFFF"/>
                </a:solidFill>
              </a:rPr>
              <a:t>Textract KeyValuePairs &amp; LineItemGroups</a:t>
            </a:r>
          </a:p>
          <a:p>
            <a:r>
              <a:rPr b="1" sz="1100">
                <a:solidFill>
                  <a:srgbClr val="38BDF8"/>
                </a:solidFill>
              </a:rPr>
              <a:t>• Visual Audit: </a:t>
            </a:r>
            <a:r>
              <a:rPr sz="1050">
                <a:solidFill>
                  <a:srgbClr val="FFFFFF"/>
                </a:solidFill>
              </a:rPr>
              <a:t>Amazon Rekognition Stamp &amp; Signature Detection</a:t>
            </a:r>
          </a:p>
          <a:p>
            <a:r>
              <a:rPr b="1" sz="1100">
                <a:solidFill>
                  <a:srgbClr val="38BDF8"/>
                </a:solidFill>
              </a:rPr>
              <a:t>• Confidence Metric: </a:t>
            </a:r>
            <a:r>
              <a:rPr sz="1050">
                <a:solidFill>
                  <a:srgbClr val="FFFFFF"/>
                </a:solidFill>
              </a:rPr>
              <a:t>Weighted OCR + NLP confidence score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Renders side-by-side original invoice image &amp; parsed data.</a:t>
            </a:r>
          </a:p>
          <a:p>
            <a:r>
              <a:rPr sz="1050">
                <a:solidFill>
                  <a:srgbClr val="94A3B8"/>
                </a:solidFill>
              </a:rPr>
              <a:t>✓ Displays Bedrock GenAI natural language risk reasoning.</a:t>
            </a:r>
          </a:p>
          <a:p>
            <a:r>
              <a:rPr sz="1050">
                <a:solidFill>
                  <a:srgbClr val="94A3B8"/>
                </a:solidFill>
              </a:rPr>
              <a:t>✓ Swedish Org.nr Modulus-10 &amp; F-skatt status validation box.</a:t>
            </a:r>
          </a:p>
          <a:p>
            <a:r>
              <a:rPr sz="1050">
                <a:solidFill>
                  <a:srgbClr val="94A3B8"/>
                </a:solidFill>
              </a:rPr>
              <a:t>✓ 1-Click JSON data export matching AWS Studio Console.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06 - ARCHITECTURE &amp; ROI SPECIFICATION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AWS End-to-End System Design &amp; Resource Catalog</a:t>
            </a:r>
          </a:p>
        </p:txBody>
      </p:sp>
      <p:pic>
        <p:nvPicPr>
          <p:cNvPr id="3" name="Picture 2" descr="05_architectur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Architecture Spec: </a:t>
            </a:r>
            <a:r>
              <a:rPr sz="1050">
                <a:solidFill>
                  <a:srgbClr val="FFFFFF"/>
                </a:solidFill>
              </a:rPr>
              <a:t>Event-driven Serverless Cloud Formation</a:t>
            </a:r>
          </a:p>
          <a:p>
            <a:r>
              <a:rPr b="1" sz="1100">
                <a:solidFill>
                  <a:srgbClr val="38BDF8"/>
                </a:solidFill>
              </a:rPr>
              <a:t>• Resource Catalog: </a:t>
            </a:r>
            <a:r>
              <a:rPr sz="1050">
                <a:solidFill>
                  <a:srgbClr val="FFFFFF"/>
                </a:solidFill>
              </a:rPr>
              <a:t>S3, API Gateway, Lambda, Textract, Comprehend, Bedrock</a:t>
            </a:r>
          </a:p>
          <a:p>
            <a:r>
              <a:rPr b="1" sz="1100">
                <a:solidFill>
                  <a:srgbClr val="38BDF8"/>
                </a:solidFill>
              </a:rPr>
              <a:t>• ROI Metric: </a:t>
            </a:r>
            <a:r>
              <a:rPr sz="1050">
                <a:solidFill>
                  <a:srgbClr val="FFFFFF"/>
                </a:solidFill>
              </a:rPr>
              <a:t>$0.015 / invoice (99.1% cost reduction)</a:t>
            </a:r>
          </a:p>
          <a:p>
            <a:r>
              <a:rPr b="1" sz="1100">
                <a:solidFill>
                  <a:srgbClr val="38BDF8"/>
                </a:solidFill>
              </a:rPr>
              <a:t>• Processing Latency: </a:t>
            </a:r>
            <a:r>
              <a:rPr sz="1050">
                <a:solidFill>
                  <a:srgbClr val="FFFFFF"/>
                </a:solidFill>
              </a:rPr>
              <a:t>&lt; 1.8s end-to-end execution speed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Embedded high-resolution 16:9 AWS Architecture Diagram.</a:t>
            </a:r>
          </a:p>
          <a:p>
            <a:r>
              <a:rPr sz="1050">
                <a:solidFill>
                  <a:srgbClr val="94A3B8"/>
                </a:solidFill>
              </a:rPr>
              <a:t>✓ Collapsible Architecture Diagram panel (closed by default).</a:t>
            </a:r>
          </a:p>
          <a:p>
            <a:r>
              <a:rPr sz="1050">
                <a:solidFill>
                  <a:srgbClr val="94A3B8"/>
                </a:solidFill>
              </a:rPr>
              <a:t>✓ Collapsible AWS Resource Catalog panel (closed by default).</a:t>
            </a:r>
          </a:p>
          <a:p>
            <a:r>
              <a:rPr sz="1050">
                <a:solidFill>
                  <a:srgbClr val="94A3B8"/>
                </a:solidFill>
              </a:rPr>
              <a:t>✓ Itemized performance metrics &amp; CloudFormation ARNs.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07 - HEAVY SERVICES COST SAFEGUARD MODAL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Itemized Pricing Transparency &amp; User Confirmation</a:t>
            </a:r>
          </a:p>
        </p:txBody>
      </p:sp>
      <p:pic>
        <p:nvPicPr>
          <p:cNvPr id="3" name="Picture 2" descr="06_paid_services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Bedrock Pricing: </a:t>
            </a:r>
            <a:r>
              <a:rPr sz="1050">
                <a:solidFill>
                  <a:srgbClr val="FFFFFF"/>
                </a:solidFill>
              </a:rPr>
              <a:t>~$0.003 / 1k tokens (~$0.005/doc)</a:t>
            </a:r>
          </a:p>
          <a:p>
            <a:r>
              <a:rPr b="1" sz="1100">
                <a:solidFill>
                  <a:srgbClr val="38BDF8"/>
                </a:solidFill>
              </a:rPr>
              <a:t>• SageMaker Pricing: </a:t>
            </a:r>
            <a:r>
              <a:rPr sz="1050">
                <a:solidFill>
                  <a:srgbClr val="FFFFFF"/>
                </a:solidFill>
              </a:rPr>
              <a:t>~$0.00002 / compute sec (~$0.001/doc)</a:t>
            </a:r>
          </a:p>
          <a:p>
            <a:r>
              <a:rPr b="1" sz="1100">
                <a:solidFill>
                  <a:srgbClr val="38BDF8"/>
                </a:solidFill>
              </a:rPr>
              <a:t>• Fraud Detector Pricing: </a:t>
            </a:r>
            <a:r>
              <a:rPr sz="1050">
                <a:solidFill>
                  <a:srgbClr val="FFFFFF"/>
                </a:solidFill>
              </a:rPr>
              <a:t>~$0.01 / fraud prediction</a:t>
            </a:r>
          </a:p>
          <a:p>
            <a:r>
              <a:rPr b="1" sz="1100">
                <a:solidFill>
                  <a:srgbClr val="38BDF8"/>
                </a:solidFill>
              </a:rPr>
              <a:t>• Kendra Pricing: </a:t>
            </a:r>
            <a:r>
              <a:rPr sz="1050">
                <a:solidFill>
                  <a:srgbClr val="FFFFFF"/>
                </a:solidFill>
              </a:rPr>
              <a:t>~$0.81 / hour (~$590/month dev tier)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Protects AWS account against unexpected heavy cloud charges.</a:t>
            </a:r>
          </a:p>
          <a:p>
            <a:r>
              <a:rPr sz="1050">
                <a:solidFill>
                  <a:srgbClr val="94A3B8"/>
                </a:solidFill>
              </a:rPr>
              <a:t>✓ Provides itemized per-document &amp; per-hour cost breakdown.</a:t>
            </a:r>
          </a:p>
          <a:p>
            <a:r>
              <a:rPr sz="1050">
                <a:solidFill>
                  <a:srgbClr val="94A3B8"/>
                </a:solidFill>
              </a:rPr>
              <a:t>✓ Requires explicit user disclaimer checkbox before enabling.</a:t>
            </a:r>
          </a:p>
          <a:p>
            <a:r>
              <a:rPr sz="1050">
                <a:solidFill>
                  <a:srgbClr val="94A3B8"/>
                </a:solidFill>
              </a:rPr>
              <a:t>✓ Free standard tier ($0.00 base cost) remains 100% active.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08 - CLOUDFORMATION TEARDOWN VISUALIZER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1-Click Infrastructure Deployment &amp; Complete Teardown</a:t>
            </a:r>
          </a:p>
        </p:txBody>
      </p:sp>
      <p:pic>
        <p:nvPicPr>
          <p:cNvPr id="3" name="Picture 2" descr="07_cloudformati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CloudFormation Template: </a:t>
            </a:r>
            <a:r>
              <a:rPr sz="1050">
                <a:solidFill>
                  <a:srgbClr val="FFFFFF"/>
                </a:solidFill>
              </a:rPr>
              <a:t>aws-backend/template.yaml</a:t>
            </a:r>
          </a:p>
          <a:p>
            <a:r>
              <a:rPr b="1" sz="1100">
                <a:solidFill>
                  <a:srgbClr val="38BDF8"/>
                </a:solidFill>
              </a:rPr>
              <a:t>• Stack Name: </a:t>
            </a:r>
            <a:r>
              <a:rPr sz="1050">
                <a:solidFill>
                  <a:srgbClr val="FFFFFF"/>
                </a:solidFill>
              </a:rPr>
              <a:t>payment-ai-stack</a:t>
            </a:r>
          </a:p>
          <a:p>
            <a:r>
              <a:rPr b="1" sz="1100">
                <a:solidFill>
                  <a:srgbClr val="38BDF8"/>
                </a:solidFill>
              </a:rPr>
              <a:t>• Log Group Resource: </a:t>
            </a:r>
            <a:r>
              <a:rPr sz="1050">
                <a:solidFill>
                  <a:srgbClr val="FFFFFF"/>
                </a:solidFill>
              </a:rPr>
              <a:t>PaymentDocProcessorLogGroup (AWS::Logs::LogGroup)</a:t>
            </a:r>
          </a:p>
          <a:p>
            <a:r>
              <a:rPr b="1" sz="1100">
                <a:solidFill>
                  <a:srgbClr val="38BDF8"/>
                </a:solidFill>
              </a:rPr>
              <a:t>• S3 Teardown Hook: </a:t>
            </a:r>
            <a:r>
              <a:rPr sz="1050">
                <a:solidFill>
                  <a:srgbClr val="FFFFFF"/>
                </a:solidFill>
              </a:rPr>
              <a:t>Pre-deletion DeleteObjectsCommand execution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Interactive step-by-step stack creation visualizer.</a:t>
            </a:r>
          </a:p>
          <a:p>
            <a:r>
              <a:rPr sz="1050">
                <a:solidFill>
                  <a:srgbClr val="94A3B8"/>
                </a:solidFill>
              </a:rPr>
              <a:t>✓ Glassmorphism Non-Empty S3 Bucket Warning Modal Popup.</a:t>
            </a:r>
          </a:p>
          <a:p>
            <a:r>
              <a:rPr sz="1050">
                <a:solidFill>
                  <a:srgbClr val="94A3B8"/>
                </a:solidFill>
              </a:rPr>
              <a:t>✓ 1-Click Teardown cleans up S3, Lambda, API Gateway &amp; Log Group.</a:t>
            </a:r>
          </a:p>
          <a:p>
            <a:r>
              <a:rPr sz="1050">
                <a:solidFill>
                  <a:srgbClr val="94A3B8"/>
                </a:solidFill>
              </a:rPr>
              <a:t>✓ Guarantees 100% deletion of resources for $0.00 leftover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09 - AWS BACKEND CODE &amp; LAMBDA GUIDE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Syntax-Highlighted CloudFormation &amp; Python 3.12 Lambda</a:t>
            </a:r>
          </a:p>
        </p:txBody>
      </p:sp>
      <p:pic>
        <p:nvPicPr>
          <p:cNvPr id="3" name="Picture 2" descr="08_lambda_cod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Lambda Runtime: </a:t>
            </a:r>
            <a:r>
              <a:rPr sz="1050">
                <a:solidFill>
                  <a:srgbClr val="FFFFFF"/>
                </a:solidFill>
              </a:rPr>
              <a:t>Python 3.12 with Boto3 SDK</a:t>
            </a:r>
          </a:p>
          <a:p>
            <a:r>
              <a:rPr b="1" sz="1100">
                <a:solidFill>
                  <a:srgbClr val="38BDF8"/>
                </a:solidFill>
              </a:rPr>
              <a:t>• Textract Method: </a:t>
            </a:r>
            <a:r>
              <a:rPr sz="1050">
                <a:solidFill>
                  <a:srgbClr val="FFFFFF"/>
                </a:solidFill>
              </a:rPr>
              <a:t>textract.analyze_expense()</a:t>
            </a:r>
          </a:p>
          <a:p>
            <a:r>
              <a:rPr b="1" sz="1100">
                <a:solidFill>
                  <a:srgbClr val="38BDF8"/>
                </a:solidFill>
              </a:rPr>
              <a:t>• Comprehend Method: </a:t>
            </a:r>
            <a:r>
              <a:rPr sz="1050">
                <a:solidFill>
                  <a:srgbClr val="FFFFFF"/>
                </a:solidFill>
              </a:rPr>
              <a:t>comprehend.detect_entities()</a:t>
            </a:r>
          </a:p>
          <a:p>
            <a:r>
              <a:rPr b="1" sz="1100">
                <a:solidFill>
                  <a:srgbClr val="38BDF8"/>
                </a:solidFill>
              </a:rPr>
              <a:t>• CloudFormation Spec: </a:t>
            </a:r>
            <a:r>
              <a:rPr sz="1050">
                <a:solidFill>
                  <a:srgbClr val="FFFFFF"/>
                </a:solidFill>
              </a:rPr>
              <a:t>8 Managed Stack Resources in YAML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Panel 1: Collapsible CloudFormation Spec (template.yaml).</a:t>
            </a:r>
          </a:p>
          <a:p>
            <a:r>
              <a:rPr sz="1050">
                <a:solidFill>
                  <a:srgbClr val="94A3B8"/>
                </a:solidFill>
              </a:rPr>
              <a:t>✓ Panel 2: Collapsible Python 3.12 Lambda Code (lambda_function.py).</a:t>
            </a:r>
          </a:p>
          <a:p>
            <a:r>
              <a:rPr sz="1050">
                <a:solidFill>
                  <a:srgbClr val="94A3B8"/>
                </a:solidFill>
              </a:rPr>
              <a:t>✓ 1-Click copy to clipboard for both YAML &amp; Python source code.</a:t>
            </a:r>
          </a:p>
          <a:p>
            <a:r>
              <a:rPr sz="1050">
                <a:solidFill>
                  <a:srgbClr val="94A3B8"/>
                </a:solidFill>
              </a:rPr>
              <a:t>✓ Step-by-step Boto3 SDK execution flow pills.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SCREEN 10 - AWS CONFIG &amp; CREDENTIALS SETTINGS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AWS Region, Access Keys &amp; S3 Bucket Settings</a:t>
            </a:r>
          </a:p>
        </p:txBody>
      </p:sp>
      <p:pic>
        <p:nvPicPr>
          <p:cNvPr id="3" name="Picture 2" descr="09_aws_config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280160"/>
            <a:ext cx="4297680" cy="5120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⚡ AWS Configuration Specs:</a:t>
            </a:r>
          </a:p>
          <a:p>
            <a:r>
              <a:rPr b="1" sz="1100">
                <a:solidFill>
                  <a:srgbClr val="38BDF8"/>
                </a:solidFill>
              </a:rPr>
              <a:t>• Access Key ID: </a:t>
            </a:r>
            <a:r>
              <a:rPr sz="1050">
                <a:solidFill>
                  <a:srgbClr val="FFFFFF"/>
                </a:solidFill>
              </a:rPr>
              <a:t>AKIA... (User AWS Credentials)</a:t>
            </a:r>
          </a:p>
          <a:p>
            <a:r>
              <a:rPr b="1" sz="1100">
                <a:solidFill>
                  <a:srgbClr val="38BDF8"/>
                </a:solidFill>
              </a:rPr>
              <a:t>• Secret Access Key: </a:t>
            </a:r>
            <a:r>
              <a:rPr sz="1050">
                <a:solidFill>
                  <a:srgbClr val="FFFFFF"/>
                </a:solidFill>
              </a:rPr>
              <a:t>K8sX... (Encrypted Local Storage)</a:t>
            </a:r>
          </a:p>
          <a:p>
            <a:r>
              <a:rPr b="1" sz="1100">
                <a:solidFill>
                  <a:srgbClr val="38BDF8"/>
                </a:solidFill>
              </a:rPr>
              <a:t>• Target Region: </a:t>
            </a:r>
            <a:r>
              <a:rPr sz="1050">
                <a:solidFill>
                  <a:srgbClr val="FFFFFF"/>
                </a:solidFill>
              </a:rPr>
              <a:t>us-east-1 (N. Virginia)</a:t>
            </a:r>
          </a:p>
          <a:p>
            <a:r>
              <a:rPr b="1" sz="1100">
                <a:solidFill>
                  <a:srgbClr val="38BDF8"/>
                </a:solidFill>
              </a:rPr>
              <a:t>• Target S3 Bucket: </a:t>
            </a:r>
            <a:r>
              <a:rPr sz="1050">
                <a:solidFill>
                  <a:srgbClr val="FFFFFF"/>
                </a:solidFill>
              </a:rPr>
              <a:t>payment-ai-stack-paymentdocumentbucket-yjxtkpxjyr63</a:t>
            </a:r>
          </a:p>
          <a:p>
            <a:pPr>
              <a:defRPr sz="400"/>
            </a:pPr>
            <a:r>
              <a:t> 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🛠️ Functional &amp; ML Capabilities:</a:t>
            </a:r>
          </a:p>
          <a:p>
            <a:r>
              <a:rPr sz="1050">
                <a:solidFill>
                  <a:srgbClr val="94A3B8"/>
                </a:solidFill>
              </a:rPr>
              <a:t>✓ Configures live AWS Boto3 / JS SDK authentication credentials.</a:t>
            </a:r>
          </a:p>
          <a:p>
            <a:r>
              <a:rPr sz="1050">
                <a:solidFill>
                  <a:srgbClr val="94A3B8"/>
                </a:solidFill>
              </a:rPr>
              <a:t>✓ Live mode vs Lab Simulator toggle switch.</a:t>
            </a:r>
          </a:p>
          <a:p>
            <a:r>
              <a:rPr sz="1050">
                <a:solidFill>
                  <a:srgbClr val="94A3B8"/>
                </a:solidFill>
              </a:rPr>
              <a:t>✓ Stores credentials safely in local browser storage.</a:t>
            </a:r>
          </a:p>
          <a:p>
            <a:r>
              <a:rPr sz="1050">
                <a:solidFill>
                  <a:srgbClr val="94A3B8"/>
                </a:solidFill>
              </a:rPr>
              <a:t>✓ Allows custom S3 bucket &amp; Lambda function targeting.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DEVELOPER SETUP &amp; EXECUTION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How to Run PayComprehend AI Locally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1: Open Terminal in Project Directory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$ cd "C:\Users\CT0514\OneDrive - Suomen Asiakastieto Oy\sandbox\workspaces\comprehand"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606040"/>
            <a:ext cx="110642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2: Install Node Dependencies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$ npm install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110642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3: Launch Local Vite Development Server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$ npm run dev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Step 4: Open Application in Web Browser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$ Navigate to http://localhost:3000/ in Chrome / Edge / Firefox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